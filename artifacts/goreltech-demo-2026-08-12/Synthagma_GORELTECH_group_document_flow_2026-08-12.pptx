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1092dc8a14856" /><Relationship Type="http://schemas.openxmlformats.org/officeDocument/2006/relationships/extended-properties" Target="/docProps/app.xml" Id="Rc23ea518b4e34e64" /><Relationship Type="http://schemas.openxmlformats.org/officeDocument/2006/relationships/officeDocument" Target="/ppt/presentation.xml" Id="R5a82da11a635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9f95ea64564326"/>
  </p:sldMasterIdLst>
  <p:notesMasterIdLst>
    <p:notesMasterId xmlns:r="http://schemas.openxmlformats.org/officeDocument/2006/relationships" r:id="R734c0b3ef3a14efa"/>
  </p:notesMasterIdLst>
  <p:sldIdLst>
    <p:sldId xmlns:r="http://schemas.openxmlformats.org/officeDocument/2006/relationships" id="256" r:id="R758159a45185495e"/>
    <p:sldId xmlns:r="http://schemas.openxmlformats.org/officeDocument/2006/relationships" id="257" r:id="Reeddffa2a03748ce"/>
    <p:sldId xmlns:r="http://schemas.openxmlformats.org/officeDocument/2006/relationships" id="258" r:id="R129cb2669eb94685"/>
    <p:sldId xmlns:r="http://schemas.openxmlformats.org/officeDocument/2006/relationships" id="259" r:id="Rc1a1fb8ed74f457e"/>
    <p:sldId xmlns:r="http://schemas.openxmlformats.org/officeDocument/2006/relationships" id="260" r:id="R7b5d1d24eef74955"/>
    <p:sldId xmlns:r="http://schemas.openxmlformats.org/officeDocument/2006/relationships" id="261" r:id="Rc39251182c404b07"/>
    <p:sldId xmlns:r="http://schemas.openxmlformats.org/officeDocument/2006/relationships" id="262" r:id="R92a6218181d64b2b"/>
    <p:sldId xmlns:r="http://schemas.openxmlformats.org/officeDocument/2006/relationships" id="263" r:id="Ra36470b35a0b4c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d3a82a7124cf9" /><Relationship Type="http://schemas.openxmlformats.org/officeDocument/2006/relationships/slideMaster" Target="/ppt/slideMasters/slideMaster1.xml" Id="Rbd9f95ea64564326" /><Relationship Type="http://schemas.openxmlformats.org/officeDocument/2006/relationships/notesMaster" Target="/ppt/notesMasters/notesMaster1.xml" Id="R734c0b3ef3a14efa" /><Relationship Type="http://schemas.openxmlformats.org/officeDocument/2006/relationships/presProps" Target="/ppt/presProps.xml" Id="R5938249de4434ec4" /><Relationship Type="http://schemas.openxmlformats.org/officeDocument/2006/relationships/tableStyles" Target="/ppt/tableStyles.xml" Id="Rb4fa196e8e5040e2" /><Relationship Type="http://schemas.openxmlformats.org/officeDocument/2006/relationships/slide" Target="/ppt/slides/slide1.xml" Id="R758159a45185495e" /><Relationship Type="http://schemas.openxmlformats.org/officeDocument/2006/relationships/slide" Target="/ppt/slides/slide2.xml" Id="Reeddffa2a03748ce" /><Relationship Type="http://schemas.openxmlformats.org/officeDocument/2006/relationships/slide" Target="/ppt/slides/slide3.xml" Id="R129cb2669eb94685" /><Relationship Type="http://schemas.openxmlformats.org/officeDocument/2006/relationships/slide" Target="/ppt/slides/slide4.xml" Id="Rc1a1fb8ed74f457e" /><Relationship Type="http://schemas.openxmlformats.org/officeDocument/2006/relationships/slide" Target="/ppt/slides/slide5.xml" Id="R7b5d1d24eef74955" /><Relationship Type="http://schemas.openxmlformats.org/officeDocument/2006/relationships/slide" Target="/ppt/slides/slide6.xml" Id="Rc39251182c404b07" /><Relationship Type="http://schemas.openxmlformats.org/officeDocument/2006/relationships/slide" Target="/ppt/slides/slide7.xml" Id="R92a6218181d64b2b" /><Relationship Type="http://schemas.openxmlformats.org/officeDocument/2006/relationships/slide" Target="/ppt/slides/slide8.xml" Id="Ra36470b35a0b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9f327345d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dcbeae05c45f0" /><Relationship Type="http://schemas.openxmlformats.org/officeDocument/2006/relationships/notesMaster" Target="/ppt/notesMasters/notesMaster1.xml" Id="R2d4f04f363ac48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7c9df62d84e28" /><Relationship Type="http://schemas.openxmlformats.org/officeDocument/2006/relationships/notesMaster" Target="/ppt/notesMasters/notesMaster1.xml" Id="R95582b8fee694b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ab84f0c814b02" /><Relationship Type="http://schemas.openxmlformats.org/officeDocument/2006/relationships/notesMaster" Target="/ppt/notesMasters/notesMaster1.xml" Id="R95ccf9c145384e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e0f4fe21b48fc" /><Relationship Type="http://schemas.openxmlformats.org/officeDocument/2006/relationships/notesMaster" Target="/ppt/notesMasters/notesMaster1.xml" Id="Raa8130a8668d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8abff3d9a49b8" /><Relationship Type="http://schemas.openxmlformats.org/officeDocument/2006/relationships/notesMaster" Target="/ppt/notesMasters/notesMaster1.xml" Id="Ra08b4ac25675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25991256c4b76" /><Relationship Type="http://schemas.openxmlformats.org/officeDocument/2006/relationships/notesMaster" Target="/ppt/notesMasters/notesMaster1.xml" Id="Rb35964946caa41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b265879c0e41dc" /><Relationship Type="http://schemas.openxmlformats.org/officeDocument/2006/relationships/notesMaster" Target="/ppt/notesMasters/notesMaster1.xml" Id="Rb0cdd7a1b40c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b48ff3a06450a" /><Relationship Type="http://schemas.openxmlformats.org/officeDocument/2006/relationships/notesMaster" Target="/ppt/notesMasters/notesMaster1.xml" Id="R601683d7522e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встречу результатом: у нас есть рабочий маршрут и готовая контрольная группа. Сразу отделить готовность к демонстрации от промышленного релиза пакетного Word-компилятора.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UI: https://sintagma.com.ru/organization?tab=group-folder&amp;groupId=8c7bd460-f809-40cd-8d26-12d08ce5be54 (checked 2026-08-11)</a:t>
            </a:r>
          </a:p>
          <a:p xmlns:a="http://schemas.openxmlformats.org/drawingml/2006/main">
            <a:r>
              <a:t>- Screenshot: 02c-group-readiness-4of4.png (captured 2026-08-11)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логику, а не перечень кнопок. Данные курса и группы становятся основанием договора и документов; готовность выпуска видна до финального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src/components/organization/tabs/GroupFolderTab.tsx</a:t>
            </a:r>
          </a:p>
          <a:p xmlns:a="http://schemas.openxmlformats.org/drawingml/2006/main">
            <a:r>
              <a:t>- Repo: src/components/organization/group-folder/GroupDocumentsFolder.tsx</a:t>
            </a:r>
          </a:p>
          <a:p xmlns:a="http://schemas.openxmlformats.org/drawingml/2006/main">
            <a:r>
              <a:t>- Repo: src/lib/group-docs/groupDocuments.ts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Подчеркнуть: это не мокап. Блок 4/4 и числа повторно открыты в живом кабинете ГОРЭЛТЕХ после перезагрузки.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UI: group 8c7bd460-f809-40cd-8d26-12d08ce5be54 (checked 2026-08-11)</a:t>
            </a:r>
          </a:p>
          <a:p xmlns:a="http://schemas.openxmlformats.org/drawingml/2006/main">
            <a:r>
              <a:t>- Screenshot: 02c-group-readiness-4of4.png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смешивать два доказательства. Новый курс проверяет persistence создания курса. Новый слушатель проверяет регистрацию и зачисление на курс. Полный групповой цикл демонстрируется на ранее подготовленном завершившем слушателе.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course: courseId=d2b1bdee-9563-4f43-b914-081d9fc28325 (created and reloaded 2026-08-11)</a:t>
            </a:r>
          </a:p>
          <a:p xmlns:a="http://schemas.openxmlformats.org/drawingml/2006/main">
            <a:r>
              <a:t>- Live student: demo_daria_120826_b (created and reloaded 2026-08-11)</a:t>
            </a:r>
          </a:p>
          <a:p xmlns:a="http://schemas.openxmlformats.org/drawingml/2006/main">
            <a:r>
              <a:t>- Screenshots: 05-course-persisted-draft.png; 04c-student-persisted-filtered.png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Сделать акцент на доверии: система показывает не просто зелёный статус, а источник, число записей и охват. Расписание честно осталось черновиком из-за отсутствия занятий.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UI: group documents data mode (checked 2026-08-11)</a:t>
            </a:r>
          </a:p>
          <a:p xmlns:a="http://schemas.openxmlformats.org/drawingml/2006/main">
            <a:r>
              <a:t>- Screenshot: 06-document-data-readiness.png</a:t>
            </a:r>
          </a:p>
          <a:p xmlns:a="http://schemas.openxmlformats.org/drawingml/2006/main">
            <a:r>
              <a:t>- Repo: src/lib/group-docs/factualData.ts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договор в мастере и перечислить только проверенные факты: 26 переменных, 0 пустых, 32 часа, цена 10 000 рублей. Не утверждать согласование юридической редакции: шаблон клиента имеет статус draft.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contract wizard preview in group 8c7bd460-f809-40cd-8d26-12d08ce5be54 (checked 2026-08-11)</a:t>
            </a:r>
          </a:p>
          <a:p xmlns:a="http://schemas.openxmlformats.org/drawingml/2006/main">
            <a:r>
              <a:t>- Repo: src/components/organization/group-folder/GenerateContractDialog.tsx</a:t>
            </a:r>
          </a:p>
          <a:p xmlns:a="http://schemas.openxmlformats.org/drawingml/2006/main">
            <a:r>
              <a:t>- Repo: docs/contract-generation/GORELTECH-COMPANY-V1.md (template status 1.0.0-draft)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главный риск, который нельзя скрывать. В live договор сохранился, затем Edge Function вернула non-2xx; новая версия пакета не появилась. Локально добавлены точная ошибка, предупреждение о частичном успехе, Beta-метки и безопасный повтор в текущей сессии. Деплой и серверный ретест ещё не выполнены.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UI: documents folder, 18 files and versions 1-2 (checked 2026-08-11)</a:t>
            </a:r>
          </a:p>
          <a:p xmlns:a="http://schemas.openxmlformats.org/drawingml/2006/main">
            <a:r>
              <a:t>- Observed live toast: Edge Function returned a non-2xx status code (2026-08-11)</a:t>
            </a:r>
          </a:p>
          <a:p xmlns:a="http://schemas.openxmlformats.org/drawingml/2006/main">
            <a:r>
              <a:t>- Repo: src/components/organization/group-folder/GroupDocumentsFolder.tsx</a:t>
            </a:r>
          </a:p>
          <a:p xmlns:a="http://schemas.openxmlformats.org/drawingml/2006/main">
            <a:r>
              <a:t>- Repo: src/lib/group-docs/docxJournal.ts</a:t>
            </a:r>
          </a:p>
          <a:p xmlns:a="http://schemas.openxmlformats.org/drawingml/2006/main">
            <a:r>
              <a:t>- Screenshot: 03-group-documents.png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встречу конкретным решением. Не просить абстрактное одобрение: предложить одну пилотную группу, назначить ответственных и зафиксировать дату серверного ретеста Word-пакета.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 scope prepared from live verification on 2026-08-11</a:t>
            </a:r>
          </a:p>
          <a:p xmlns:a="http://schemas.openxmlformats.org/drawingml/2006/main">
            <a:r>
              <a:t>- Repo branch: codex/email-warmup-cleanup (local changes not deployed)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a9b2c5899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defef7cc54f36" /><Relationship Type="http://schemas.openxmlformats.org/officeDocument/2006/relationships/slideLayout" Target="/ppt/slideLayouts/slideLayout1.xml" Id="R601e83eead81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e83eead81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08ba39214f80" /><Relationship Type="http://schemas.openxmlformats.org/officeDocument/2006/relationships/image" Target="/ppt/media/image.jpeg" Id="Rb94e186d514a4fef" /><Relationship Type="http://schemas.openxmlformats.org/officeDocument/2006/relationships/notesSlide" Target="/ppt/notesSlides/notesSlide1.xml" Id="R1bebb1d9d957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c6719ff3d4f94" /><Relationship Type="http://schemas.openxmlformats.org/officeDocument/2006/relationships/notesSlide" Target="/ppt/notesSlides/notesSlide2.xml" Id="Rb527a5e19fd8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76a93536b414a" /><Relationship Type="http://schemas.openxmlformats.org/officeDocument/2006/relationships/image" Target="/ppt/media/image2.jpeg" Id="R5997898d60b44c9f" /><Relationship Type="http://schemas.openxmlformats.org/officeDocument/2006/relationships/notesSlide" Target="/ppt/notesSlides/notesSlide3.xml" Id="Rd566bba48a96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e53a006524aad" /><Relationship Type="http://schemas.openxmlformats.org/officeDocument/2006/relationships/image" Target="/ppt/media/image3.jpeg" Id="R2b9bf5bef2f14bd9" /><Relationship Type="http://schemas.openxmlformats.org/officeDocument/2006/relationships/image" Target="/ppt/media/image4.jpeg" Id="R2e14d5f40dc44b1f" /><Relationship Type="http://schemas.openxmlformats.org/officeDocument/2006/relationships/notesSlide" Target="/ppt/notesSlides/notesSlide4.xml" Id="R18e7cc8c8839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54bbe9dc9460a" /><Relationship Type="http://schemas.openxmlformats.org/officeDocument/2006/relationships/image" Target="/ppt/media/image5.jpeg" Id="R734f83bd8b5248e8" /><Relationship Type="http://schemas.openxmlformats.org/officeDocument/2006/relationships/notesSlide" Target="/ppt/notesSlides/notesSlide5.xml" Id="R5728c20372bb4a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089b6ac240a0" /><Relationship Type="http://schemas.openxmlformats.org/officeDocument/2006/relationships/notesSlide" Target="/ppt/notesSlides/notesSlide6.xml" Id="R438916123b7040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bfb334f6a4f8b" /><Relationship Type="http://schemas.openxmlformats.org/officeDocument/2006/relationships/image" Target="/ppt/media/image6.jpeg" Id="R682796f3a6a64703" /><Relationship Type="http://schemas.openxmlformats.org/officeDocument/2006/relationships/notesSlide" Target="/ppt/notesSlides/notesSlide7.xml" Id="Rbdfbabfbc9c5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a9cb6a7a148d5" /><Relationship Type="http://schemas.openxmlformats.org/officeDocument/2006/relationships/notesSlide" Target="/ppt/notesSlides/notesSlide8.xml" Id="R1516db354b994d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">
            <a:extLst xmlns:a="http://schemas.openxmlformats.org/drawingml/2006/main">
              <a:ext uri="{FF2B5EF4-FFF2-40B4-BE49-F238E27FC236}">
                <a16:creationId xmlns:a16="http://schemas.microsoft.com/office/drawing/2014/main" id="{B9EAA666-DF62-42AB-8724-8C47A41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ДЕМОНСТРАЦИЯ • 12 АВГУСТА 2026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E500F81F-C5C4-4EF2-9D41-642C03D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3AE33-9987-46FD-8816-3DFC069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950825-70EB-49FE-BB1C-94F37D4C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Цикл группы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готов к показу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97E1B6A-CA64-4C05-8B78-235C70CD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Курс, слушатель, группа, договоры, документы и контроль ФИС ФРДО — в одном маршруте.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1508-5507-485C-85E5-1E65BE8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411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5D653-6864-46CC-97FB-FDEB0C8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Для Дарьи • ООО «ИЦ «ГОРЭЛТЕХ»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533F5-46D0-4E67-A64B-77683A28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Статус: основной цикл подтверждён live; пакетная пересборка — Beta до серверного ретеста.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FA46A-0887-4CF3-AD2E-5E7DDE3E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57250"/>
            <a:ext cx="58102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e186d514a4fef"/>
          <a:stretch xmlns:a="http://schemas.openxmlformats.org/drawingml/2006/main"/>
        </p:blipFill>
        <p:spPr>
          <a:xfrm xmlns:a="http://schemas.openxmlformats.org/drawingml/2006/main">
            <a:off x="5981700" y="17748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36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2">
            <a:extLst xmlns:a="http://schemas.openxmlformats.org/drawingml/2006/main">
              <a:ext uri="{FF2B5EF4-FFF2-40B4-BE49-F238E27FC236}">
                <a16:creationId xmlns:a16="http://schemas.microsoft.com/office/drawing/2014/main" id="{31A81BF3-3889-4A83-A315-1A8BB88D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403B34DC-2DAE-4906-AE58-4E49C60C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75A43D11-24DC-40A5-BA9D-2A62F876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 маршрут связывает обучение и документы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37C0717B-24D9-4A60-A6B8-32A8DBAA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Каждый следующий шаг использует данные предыдущего — повторный ввод сокращается.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A0ED1-06D5-4292-98B4-EA1DD53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0B786-A944-4758-BD4D-B2E3E6E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44F18-8B3E-4E46-949F-240DB2E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4348C-6BFB-4935-8DFD-74D90E9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9D26D-78A7-45FF-BF89-BC780D4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Программа, часы, форма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05ADC-465D-4239-AC21-8AA7C92A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BAD17-C81C-415D-BDE1-9CF337D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00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12073-8502-4520-A821-581CD13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Слушатель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DE69D-FA43-4C0D-BEB9-AB75792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Карточка и зачисление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2EBD3-943E-4053-A7B6-AD18D1B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B35DA-6550-4D6C-8F87-1746253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28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5A20A-489A-40BD-A99A-A3C1FF5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19B4D-EB87-40D4-BC84-2783C628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Участники, даты, педагог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50365-8F7C-43C6-9EA0-6AA0E24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0B2FA-79F3-4996-8062-6C100311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7F55B-2581-41D2-8463-E8E63ED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A9A05-ECA2-4C89-8B10-9B642C5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Физлицо или компания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E7F8A-F11F-4B85-B885-5A2B892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F0870-EE38-4184-AAA9-A024750C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F8D4E-5CE4-4C46-8565-F0263505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E6B99-6E71-4CC4-AE3D-C0D771C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 файлов пакета и версии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77195-5C05-4685-9B43-3EE1A17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1E1B8-50AA-4D1D-91D7-AA5674A3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0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19F3B-F9E7-4C69-ABDC-BCB1E7E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Выпуск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CF4C9-5A73-469C-85C2-AF26822B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Готовность и ФИС ФРДО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C694BC-390F-4A29-8468-BE2A182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Демонстрация проходит по тому же маршруту, что и ежедневная работа учебного центра.</a:t>
            </a:r>
          </a:p>
        </p:txBody>
      </p:sp>
    </p:spTree>
    <p:extLst>
      <p:ext uri="{BB962C8B-B14F-4D97-AF65-F5344CB8AC3E}">
        <p14:creationId xmlns:p14="http://schemas.microsoft.com/office/powerpoint/2010/main" val="558992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3">
            <a:extLst xmlns:a="http://schemas.openxmlformats.org/drawingml/2006/main">
              <a:ext uri="{FF2B5EF4-FFF2-40B4-BE49-F238E27FC236}">
                <a16:creationId xmlns:a16="http://schemas.microsoft.com/office/drawing/2014/main" id="{5787BFF4-A42E-46C0-93BC-F31CF00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9000E32-C622-439F-BB9E-3047526C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56C606D-7201-4173-8B32-47A9487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Контрольная группа проходит все четыре проверки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53CCD02F-3D82-410D-9540-1743FF1C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Готовность видна до выпуска — по участникам, обучению, документам и ФИС ФРДО.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B93C3-D2EC-4359-B31C-629972AF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68A6B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3FEB7-DD5F-44C9-A63F-CD9BB8F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этапа готовы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578A-0018-4E90-BECA-2F56E0D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2B2DB-15EB-48A9-A914-41B2209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36E61-7B7A-4A41-A521-7FE62991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слушатель зачислен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и готов для ФИС ФРДО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D418E-0F75-414D-A52C-739CFBE3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78733-D819-4403-93FE-18278F98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сохранённых файлов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 двух версиях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5CCED-DFB5-47A5-9908-B4C6D615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8134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7898d60b44c9f"/>
          <a:srcRect xmlns:a="http://schemas.openxmlformats.org/drawingml/2006/main" l="0" t="5895" r="0" b="5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1952625"/>
            <a:ext cx="8134350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2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4">
            <a:extLst xmlns:a="http://schemas.openxmlformats.org/drawingml/2006/main">
              <a:ext uri="{FF2B5EF4-FFF2-40B4-BE49-F238E27FC236}">
                <a16:creationId xmlns:a16="http://schemas.microsoft.com/office/drawing/2014/main" id="{5F37297D-00CB-454E-9E61-5BD881AB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DAC99F9E-204C-42C7-868C-C3E75B3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5F32648-1A19-42D5-9582-6CCFA2B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Курс и слушатель сохраняются после reload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BC11A2D2-49F0-4570-9104-6C6FD29E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Новые объекты созданы в live-кабинете и повторно открыты; курс оставлен черновиком намеренно.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73B45-A60A-4AD7-8D39-4975A65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AAECA-C599-416C-A7F9-D726DCA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СЛУШАТЕЛЬ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D25D9-6EC4-43C8-A714-36A1C09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5391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bf5bef2f14bd9"/>
          <a:srcRect xmlns:a="http://schemas.openxmlformats.org/drawingml/2006/main" l="1139" t="0" r="1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114550"/>
            <a:ext cx="5391150" cy="3105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3A2F0-B43D-4B75-B706-D4EF4E67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55435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4d5f40dc44b1f"/>
          <a:srcRect xmlns:a="http://schemas.openxmlformats.org/drawingml/2006/main" l="0" t="241" r="0" b="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2114550"/>
            <a:ext cx="5543550" cy="3105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A9751-8BDB-4059-8D0A-3699EA69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Черновик • 0 уроков — подтверждает создание курса, но не готовность его содержания.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C5B86-6ED3-43F3-88B6-1932BE9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29250"/>
            <a:ext cx="554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Активен • зачислен на курс • группа ещё не назначена — это следующий шаг демо.</a:t>
            </a:r>
          </a:p>
        </p:txBody>
      </p:sp>
    </p:spTree>
    <p:extLst>
      <p:ext uri="{BB962C8B-B14F-4D97-AF65-F5344CB8AC3E}">
        <p14:creationId xmlns:p14="http://schemas.microsoft.com/office/powerpoint/2010/main" val="1851764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D1382866-55C9-4068-A8C5-9ECD0A0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0C0A9F7-D1D6-4406-9D67-0F129FF4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412F832-31D8-473B-9F36-6B20084A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 формированием видно качество исходных данных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490A5DBD-208B-44B6-9A41-7EC629B7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не маскирует пропуски: документ остаётся черновиком, если фактического источника недостаточно.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3122-3CCF-4FEE-AF18-610B91F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8A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F6B89-4CAD-4A0B-B5E3-CBB20B24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записей журнала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охват 1 из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B2C29-D844-4DC9-A1EF-24B4EBB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96A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EED16-E0DC-4759-8ED8-586C6E0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структурированных занятий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расписание остаётся черновиком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26987-5A60-4357-936D-63C7035D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84772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f83bd8b5248e8"/>
          <a:srcRect xmlns:a="http://schemas.openxmlformats.org/drawingml/2006/main" l="0" t="5882" r="0" b="5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952625"/>
            <a:ext cx="8477250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2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62B0D0EC-BA9C-4EC6-8A4F-9722620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4073D4CE-B239-4007-86FD-E9163B1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E1FB18DC-B0F4-4598-B1DF-27A54F1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Договор заполняется без пустых переменных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E9038EB9-546F-4E3E-AD7D-5657739E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Контрольный сценарий «Компания» прошёл предпросмотр и сохранение в живом кабинете.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CF77E-5863-45E6-B64E-87E2B8D9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5623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8409-303C-43D6-B4EA-BFE17DB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8465F-4498-492F-90AF-C83180C5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переменных</a:t>
            </a:r>
          </a:p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 предпросмотре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9A926-B6A0-4094-B59F-C92BA0D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5623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B0F42-7A86-4530-9C32-AE0221CB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432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8A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BA560-E918-4F81-A5A6-0B0163E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672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пустых</a:t>
            </a:r>
          </a:p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значений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E6CD-61F8-4EC7-97AD-BA944D0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623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8FDA5-8E5E-40BA-ACBF-B339C55F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32 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B5212-5B0A-4574-B2F0-290525B2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программа</a:t>
            </a:r>
          </a:p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обучения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109C-D067-4798-9ACF-4358817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Сценарий: один договор с компанией-заказчиком и приложением слушателей • цена в тесте 10 000 ₽.</a:t>
            </a:r>
          </a:p>
        </p:txBody>
      </p:sp>
    </p:spTree>
    <p:extLst>
      <p:ext uri="{BB962C8B-B14F-4D97-AF65-F5344CB8AC3E}">
        <p14:creationId xmlns:p14="http://schemas.microsoft.com/office/powerpoint/2010/main" val="1733569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">
            <a:extLst xmlns:a="http://schemas.openxmlformats.org/drawingml/2006/main">
              <a:ext uri="{FF2B5EF4-FFF2-40B4-BE49-F238E27FC236}">
                <a16:creationId xmlns:a16="http://schemas.microsoft.com/office/drawing/2014/main" id="{294F89FD-EEC9-4E56-AB05-8885894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СИНТАГМА × ГОРЭЛТЕХ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93E0DE34-09AE-42E8-86E0-EFDF8F8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8BED901E-1393-40D2-892A-3C7AD8D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Версии готовы; пересборка пакета пока Beta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AD6CC058-B1EA-4A61-A6E2-C005BF1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Контрольный тест сохранил договор, но серверная сборка новой версии 9 документов завершилась ошибкой.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ABF4B-DAFE-416F-86C0-788A381F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0675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796f3a6a64703"/>
          <a:srcRect xmlns:a="http://schemas.openxmlformats.org/drawingml/2006/main" l="0" t="195" r="0" b="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952625"/>
            <a:ext cx="7067550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F5CD7-7A66-475E-8224-5F9F803E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CFE01-8C7F-48FB-8045-CC2D9901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сохранённые версии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D7490-4801-4E9C-A401-D1B53AF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F4A44-D70D-44ED-950C-E214B4F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файлов в папке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075CC-0A48-4C2A-87CA-2B274D0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195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6A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0EDCC-0CAB-487E-B8DC-18B372F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6A00"/>
                </a:solidFill>
                <a:latin typeface="Arial"/>
                <a:ea typeface="Arial"/>
                <a:cs typeface="Arial"/>
              </a:rPr>
              <a:t>HTML-макетов • Beta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75FA2-83D6-44D2-887D-3179EB28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96A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9A7E9-A9EA-4B9E-9D6C-4C6E97C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6A00"/>
                </a:solidFill>
                <a:latin typeface="Arial"/>
                <a:ea typeface="Arial"/>
                <a:cs typeface="Arial"/>
              </a:rPr>
              <a:t>Word-журнал • PDF недоступен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906B6-8AD4-4390-8C10-24B4F648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197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0B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A8B41-9305-46F5-A9FF-5B245A39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9115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6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A00"/>
                </a:solidFill>
                <a:latin typeface="Arial"/>
                <a:ea typeface="Arial"/>
                <a:cs typeface="Arial"/>
              </a:rPr>
              <a:t>До пилота: развернуть исправление, повторить серверный тест и подтвердить новую версию после reload.</a:t>
            </a:r>
          </a:p>
        </p:txBody>
      </p:sp>
    </p:spTree>
    <p:extLst>
      <p:ext uri="{BB962C8B-B14F-4D97-AF65-F5344CB8AC3E}">
        <p14:creationId xmlns:p14="http://schemas.microsoft.com/office/powerpoint/2010/main" val="254859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8">
            <a:extLst xmlns:a="http://schemas.openxmlformats.org/drawingml/2006/main">
              <a:ext uri="{FF2B5EF4-FFF2-40B4-BE49-F238E27FC236}">
                <a16:creationId xmlns:a16="http://schemas.microsoft.com/office/drawing/2014/main" id="{D445CCB5-EBA9-4B36-946D-E2BBA3DB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ПЛАН ВСТРЕЧИ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5D34D382-1607-47B9-B0A1-EBFF0D51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FFC08-FEFC-4C9A-BFDC-42DDDE65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Завтра покажем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живой цикл за 15 минут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E8757-4D34-476B-AB71-A8822A18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Цель встречи — согласовать пилот на одной группе и критерии промышленного запуска.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0203C-8692-4EE8-B802-69EA5C45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240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6A316-B64B-416B-9456-8D44139D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57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03 мин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CA72E-B078-45BC-B3F9-C3F5817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006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Курс и слушатель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3E5AE-DA82-446C-9A79-AC03D40D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240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EF89-5E4D-417F-9FCF-77248A2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57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04 мин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D031C-45B7-4E2F-9B07-87DEF02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006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Готовность группы 4/4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EA75-6E6A-43B8-AF8F-DB708C9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240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55E2C-8CE3-4E74-AFA5-080DA91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05 мин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C14B5-5539-40C7-97BA-61D4CA2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006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Договор и документы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D7F10-EA9C-457E-8689-595FD400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240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E8F87-A6CB-4C3F-9AA1-A04BF7FF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7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B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8B9B"/>
                </a:solidFill>
                <a:latin typeface="Arial"/>
                <a:ea typeface="Arial"/>
                <a:cs typeface="Arial"/>
              </a:rPr>
              <a:t>03 мин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38A56-4126-49FE-8468-8900D82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006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Beta-границы и пилот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75990-FBB1-43F6-8CE0-9A7409BC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11372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F9E49-1160-4E5F-A56C-E4EEB4A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после показа: 1 пилотная группа • ответственные • дата серверного ретеста</a:t>
            </a:r>
          </a:p>
        </p:txBody>
      </p:sp>
    </p:spTree>
    <p:extLst>
      <p:ext uri="{BB962C8B-B14F-4D97-AF65-F5344CB8AC3E}">
        <p14:creationId xmlns:p14="http://schemas.microsoft.com/office/powerpoint/2010/main" val="166149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2026-08-11T09:06:46.4820000Z</dcterms:created>
  <dcterms:modified xsi:type="dcterms:W3CDTF">2026-08-11T09:06:46.4820000Z</dcterms:modified>
</coreProperties>
</file>